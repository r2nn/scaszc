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43436bd7c54192" /><Relationship Type="http://schemas.openxmlformats.org/officeDocument/2006/relationships/extended-properties" Target="/docProps/app.xml" Id="R656012c8fa0245c1" /><Relationship Type="http://schemas.openxmlformats.org/officeDocument/2006/relationships/officeDocument" Target="/ppt/presentation.xml" Id="R2eed8a826a804c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adcd9632df4965"/>
  </p:sldMasterIdLst>
  <p:notesMasterIdLst>
    <p:notesMasterId xmlns:r="http://schemas.openxmlformats.org/officeDocument/2006/relationships" r:id="R53469f63680b4323"/>
  </p:notesMasterIdLst>
  <p:sldIdLst>
    <p:sldId xmlns:r="http://schemas.openxmlformats.org/officeDocument/2006/relationships" id="256" r:id="R5ab05e4ce59b4ac4"/>
    <p:sldId xmlns:r="http://schemas.openxmlformats.org/officeDocument/2006/relationships" id="257" r:id="Rc239767bfdc34c6e"/>
    <p:sldId xmlns:r="http://schemas.openxmlformats.org/officeDocument/2006/relationships" id="258" r:id="R7795d5ddde174e0d"/>
    <p:sldId xmlns:r="http://schemas.openxmlformats.org/officeDocument/2006/relationships" id="259" r:id="Rcb9d9608e81e481a"/>
    <p:sldId xmlns:r="http://schemas.openxmlformats.org/officeDocument/2006/relationships" id="260" r:id="Ra63735d466074343"/>
    <p:sldId xmlns:r="http://schemas.openxmlformats.org/officeDocument/2006/relationships" id="261" r:id="Rc2503810f14746fa"/>
    <p:sldId xmlns:r="http://schemas.openxmlformats.org/officeDocument/2006/relationships" id="262" r:id="Rb06d756fd5634c5e"/>
    <p:sldId xmlns:r="http://schemas.openxmlformats.org/officeDocument/2006/relationships" id="263" r:id="R3b4ef15b4ef94f3d"/>
    <p:sldId xmlns:r="http://schemas.openxmlformats.org/officeDocument/2006/relationships" id="264" r:id="R8fc8d3ca958f439b"/>
    <p:sldId xmlns:r="http://schemas.openxmlformats.org/officeDocument/2006/relationships" id="265" r:id="R198df9b26fa14227"/>
    <p:sldId xmlns:r="http://schemas.openxmlformats.org/officeDocument/2006/relationships" id="266" r:id="R6c1ceb7050274364"/>
    <p:sldId xmlns:r="http://schemas.openxmlformats.org/officeDocument/2006/relationships" id="267" r:id="R58e14f17e4034a36"/>
    <p:sldId xmlns:r="http://schemas.openxmlformats.org/officeDocument/2006/relationships" id="268" r:id="Re1aa7960ee744d76"/>
    <p:sldId xmlns:r="http://schemas.openxmlformats.org/officeDocument/2006/relationships" id="269" r:id="Rf8f2da42920c49d9"/>
    <p:sldId xmlns:r="http://schemas.openxmlformats.org/officeDocument/2006/relationships" id="270" r:id="R27eecbdda8624a99"/>
    <p:sldId xmlns:r="http://schemas.openxmlformats.org/officeDocument/2006/relationships" id="271" r:id="Re48fe5a4f9644c22"/>
    <p:sldId xmlns:r="http://schemas.openxmlformats.org/officeDocument/2006/relationships" id="272" r:id="R38d262ba5b964e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8758642e8a4e3a" /><Relationship Type="http://schemas.openxmlformats.org/officeDocument/2006/relationships/slideMaster" Target="/ppt/slideMasters/slideMaster1.xml" Id="Rbeadcd9632df4965" /><Relationship Type="http://schemas.openxmlformats.org/officeDocument/2006/relationships/notesMaster" Target="/ppt/notesMasters/notesMaster1.xml" Id="R53469f63680b4323" /><Relationship Type="http://schemas.openxmlformats.org/officeDocument/2006/relationships/presProps" Target="/ppt/presProps.xml" Id="R995a5152576b4ac1" /><Relationship Type="http://schemas.openxmlformats.org/officeDocument/2006/relationships/tableStyles" Target="/ppt/tableStyles.xml" Id="Raef7fcb226524ec0" /><Relationship Type="http://schemas.openxmlformats.org/officeDocument/2006/relationships/slide" Target="/ppt/slides/slide1.xml" Id="R5ab05e4ce59b4ac4" /><Relationship Type="http://schemas.openxmlformats.org/officeDocument/2006/relationships/slide" Target="/ppt/slides/slide2.xml" Id="Rc239767bfdc34c6e" /><Relationship Type="http://schemas.openxmlformats.org/officeDocument/2006/relationships/slide" Target="/ppt/slides/slide3.xml" Id="R7795d5ddde174e0d" /><Relationship Type="http://schemas.openxmlformats.org/officeDocument/2006/relationships/slide" Target="/ppt/slides/slide4.xml" Id="Rcb9d9608e81e481a" /><Relationship Type="http://schemas.openxmlformats.org/officeDocument/2006/relationships/slide" Target="/ppt/slides/slide5.xml" Id="Ra63735d466074343" /><Relationship Type="http://schemas.openxmlformats.org/officeDocument/2006/relationships/slide" Target="/ppt/slides/slide6.xml" Id="Rc2503810f14746fa" /><Relationship Type="http://schemas.openxmlformats.org/officeDocument/2006/relationships/slide" Target="/ppt/slides/slide7.xml" Id="Rb06d756fd5634c5e" /><Relationship Type="http://schemas.openxmlformats.org/officeDocument/2006/relationships/slide" Target="/ppt/slides/slide8.xml" Id="R3b4ef15b4ef94f3d" /><Relationship Type="http://schemas.openxmlformats.org/officeDocument/2006/relationships/slide" Target="/ppt/slides/slide9.xml" Id="R8fc8d3ca958f439b" /><Relationship Type="http://schemas.openxmlformats.org/officeDocument/2006/relationships/slide" Target="/ppt/slides/slide10.xml" Id="R198df9b26fa14227" /><Relationship Type="http://schemas.openxmlformats.org/officeDocument/2006/relationships/slide" Target="/ppt/slides/slide11.xml" Id="R6c1ceb7050274364" /><Relationship Type="http://schemas.openxmlformats.org/officeDocument/2006/relationships/slide" Target="/ppt/slides/slide12.xml" Id="R58e14f17e4034a36" /><Relationship Type="http://schemas.openxmlformats.org/officeDocument/2006/relationships/slide" Target="/ppt/slides/slide13.xml" Id="Re1aa7960ee744d76" /><Relationship Type="http://schemas.openxmlformats.org/officeDocument/2006/relationships/slide" Target="/ppt/slides/slide14.xml" Id="Rf8f2da42920c49d9" /><Relationship Type="http://schemas.openxmlformats.org/officeDocument/2006/relationships/slide" Target="/ppt/slides/slide15.xml" Id="R27eecbdda8624a99" /><Relationship Type="http://schemas.openxmlformats.org/officeDocument/2006/relationships/slide" Target="/ppt/slides/slide16.xml" Id="Re48fe5a4f9644c22" /><Relationship Type="http://schemas.openxmlformats.org/officeDocument/2006/relationships/slide" Target="/ppt/slides/slide17.xml" Id="R38d262ba5b964e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87bccc771b42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a93bec25d04135" /><Relationship Type="http://schemas.openxmlformats.org/officeDocument/2006/relationships/notesMaster" Target="/ppt/notesMasters/notesMaster1.xml" Id="R25009d879d4547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a73e41a00240be" /><Relationship Type="http://schemas.openxmlformats.org/officeDocument/2006/relationships/notesMaster" Target="/ppt/notesMasters/notesMaster1.xml" Id="Rdb6c0d9f3f774d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69dd2c70764d51" /><Relationship Type="http://schemas.openxmlformats.org/officeDocument/2006/relationships/notesMaster" Target="/ppt/notesMasters/notesMaster1.xml" Id="Rcc9cb136abef48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6685f8e2624bf3" /><Relationship Type="http://schemas.openxmlformats.org/officeDocument/2006/relationships/notesMaster" Target="/ppt/notesMasters/notesMaster1.xml" Id="R96931748adc246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9cec182b2c4f29" /><Relationship Type="http://schemas.openxmlformats.org/officeDocument/2006/relationships/notesMaster" Target="/ppt/notesMasters/notesMaster1.xml" Id="R4504bdb867fe42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a7b08e9a2d41ce" /><Relationship Type="http://schemas.openxmlformats.org/officeDocument/2006/relationships/notesMaster" Target="/ppt/notesMasters/notesMaster1.xml" Id="Ref527d6fceb14a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d8eb2c226e4754" /><Relationship Type="http://schemas.openxmlformats.org/officeDocument/2006/relationships/notesMaster" Target="/ppt/notesMasters/notesMaster1.xml" Id="R2e86fae5ce5247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7332eb19d54b9b" /><Relationship Type="http://schemas.openxmlformats.org/officeDocument/2006/relationships/notesMaster" Target="/ppt/notesMasters/notesMaster1.xml" Id="R66dc203bd7a64a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a63df94d5a424c" /><Relationship Type="http://schemas.openxmlformats.org/officeDocument/2006/relationships/notesMaster" Target="/ppt/notesMasters/notesMaster1.xml" Id="R3c608ebb3eae47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db19207d6646a8" /><Relationship Type="http://schemas.openxmlformats.org/officeDocument/2006/relationships/notesMaster" Target="/ppt/notesMasters/notesMaster1.xml" Id="R4694eba914374c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627443347948f0" /><Relationship Type="http://schemas.openxmlformats.org/officeDocument/2006/relationships/notesMaster" Target="/ppt/notesMasters/notesMaster1.xml" Id="R8f06c73b7bd340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5401b14f404404" /><Relationship Type="http://schemas.openxmlformats.org/officeDocument/2006/relationships/notesMaster" Target="/ppt/notesMasters/notesMaster1.xml" Id="Rb1dbd122ddd441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402e056d74402b" /><Relationship Type="http://schemas.openxmlformats.org/officeDocument/2006/relationships/notesMaster" Target="/ppt/notesMasters/notesMaster1.xml" Id="R779fa351d7064e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0ee1f35c8e4653" /><Relationship Type="http://schemas.openxmlformats.org/officeDocument/2006/relationships/notesMaster" Target="/ppt/notesMasters/notesMaster1.xml" Id="R348c4ae98d5c4b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2bb267052546b6" /><Relationship Type="http://schemas.openxmlformats.org/officeDocument/2006/relationships/notesMaster" Target="/ppt/notesMasters/notesMaster1.xml" Id="R24195de5fd0041c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341b0d30c8d40a5" /><Relationship Type="http://schemas.openxmlformats.org/officeDocument/2006/relationships/notesMaster" Target="/ppt/notesMasters/notesMaster1.xml" Id="R93fb2ea1153849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bb79633a6a4427f" /><Relationship Type="http://schemas.openxmlformats.org/officeDocument/2006/relationships/notesMaster" Target="/ppt/notesMasters/notesMaster1.xml" Id="R1d6541d5845747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docs/assets/desktop-overview.jpg.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docs/assets/desktop-import-review.jpg.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docs/assets/desktop-engineers.jpg.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docs/assets/desktop-shift.jpg.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docs/assets/desktop-replanning.jpg.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docs/assets/algorithm-flow.svg, левая ветка.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docs/assets/algorithm-flow.svg, правая ветка.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docs/assets/transit-routing.svg.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docs/assets/system-architecture.svg.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README.md, раздел 06 «Аналитика», сохранённый план 17.08.2026.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docs/assets/desktop-analytics-history.jpg.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docs/assets/desktop-analytics-forecast.jpg.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docs/assets/desktop-analytics-gantt.jpg.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docs/assets/desktop-analytics-efficiency.jpg.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docs/assets/beego-report-2026-08-17.pdf.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docs/assets/desktop-assistant.jpg. Тезисы основаны на README.md и документации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84e286234141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4486085a1748a1" /><Relationship Type="http://schemas.openxmlformats.org/officeDocument/2006/relationships/slideLayout" Target="/ppt/slideLayouts/slideLayout1.xml" Id="R1d8aad5bab2844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8aad5bab2844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63120fb804a66" /><Relationship Type="http://schemas.openxmlformats.org/officeDocument/2006/relationships/notesSlide" Target="/ppt/notesSlides/notesSlide1.xml" Id="Rf1e43c0d3b1b44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2a722570c47a2" /><Relationship Type="http://schemas.openxmlformats.org/officeDocument/2006/relationships/image" Target="/ppt/media/image.jpeg" Id="R12ec6c38649949ab" /><Relationship Type="http://schemas.openxmlformats.org/officeDocument/2006/relationships/notesSlide" Target="/ppt/notesSlides/notesSlide2.xml" Id="Re431b45882a34a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d8fb66beb4dc4" /><Relationship Type="http://schemas.openxmlformats.org/officeDocument/2006/relationships/image" Target="/ppt/media/image2.jpeg" Id="Rcff787f252934c7b" /><Relationship Type="http://schemas.openxmlformats.org/officeDocument/2006/relationships/notesSlide" Target="/ppt/notesSlides/notesSlide3.xml" Id="R29e88c0507a246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1578025394321" /><Relationship Type="http://schemas.openxmlformats.org/officeDocument/2006/relationships/image" Target="/ppt/media/image3.jpeg" Id="R24ce94e065434f9b" /><Relationship Type="http://schemas.openxmlformats.org/officeDocument/2006/relationships/notesSlide" Target="/ppt/notesSlides/notesSlide4.xml" Id="R6d36d36613d840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1adae195b47c1" /><Relationship Type="http://schemas.openxmlformats.org/officeDocument/2006/relationships/image" Target="/ppt/media/image4.jpeg" Id="R8ceb80bfcf414ce1" /><Relationship Type="http://schemas.openxmlformats.org/officeDocument/2006/relationships/notesSlide" Target="/ppt/notesSlides/notesSlide5.xml" Id="Rf2a0f3bfb34e43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eab83f9954d3a" /><Relationship Type="http://schemas.openxmlformats.org/officeDocument/2006/relationships/image" Target="/ppt/media/image5.jpeg" Id="R29eecd930c704769" /><Relationship Type="http://schemas.openxmlformats.org/officeDocument/2006/relationships/notesSlide" Target="/ppt/notesSlides/notesSlide6.xml" Id="R9f38ba2f8fa04b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a8a0e87f44f57" /><Relationship Type="http://schemas.openxmlformats.org/officeDocument/2006/relationships/image" Target="/ppt/media/image.png" Id="R26decc30d93f477c" /><Relationship Type="http://schemas.openxmlformats.org/officeDocument/2006/relationships/notesSlide" Target="/ppt/notesSlides/notesSlide7.xml" Id="R834428da7fb34a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a77751c1f4612" /><Relationship Type="http://schemas.openxmlformats.org/officeDocument/2006/relationships/image" Target="/ppt/media/image2.png" Id="R191cf94a33654af6" /><Relationship Type="http://schemas.openxmlformats.org/officeDocument/2006/relationships/notesSlide" Target="/ppt/notesSlides/notesSlide8.xml" Id="Rf6738246720d41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71f9ae0f64c3a" /><Relationship Type="http://schemas.openxmlformats.org/officeDocument/2006/relationships/image" Target="/ppt/media/image3.png" Id="Rfeba93b523084c11" /><Relationship Type="http://schemas.openxmlformats.org/officeDocument/2006/relationships/notesSlide" Target="/ppt/notesSlides/notesSlide9.xml" Id="Rde09ef0e359345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a5623d9fe421b" /><Relationship Type="http://schemas.openxmlformats.org/officeDocument/2006/relationships/image" Target="/ppt/media/image4.png" Id="R47a4c7a5c4ad4abc" /><Relationship Type="http://schemas.openxmlformats.org/officeDocument/2006/relationships/notesSlide" Target="/ppt/notesSlides/notesSlide10.xml" Id="Rcc901e6d7b7d42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8ae6d93924aaf" /><Relationship Type="http://schemas.openxmlformats.org/officeDocument/2006/relationships/notesSlide" Target="/ppt/notesSlides/notesSlide11.xml" Id="Ra73ef95e64044b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626666ed64fa5" /><Relationship Type="http://schemas.openxmlformats.org/officeDocument/2006/relationships/image" Target="/ppt/media/image6.jpeg" Id="Rf5234a887e914f03" /><Relationship Type="http://schemas.openxmlformats.org/officeDocument/2006/relationships/notesSlide" Target="/ppt/notesSlides/notesSlide12.xml" Id="R37c08e0e111443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9f9a420ae4973" /><Relationship Type="http://schemas.openxmlformats.org/officeDocument/2006/relationships/image" Target="/ppt/media/image7.jpeg" Id="R2a46e9fe0f7748cf" /><Relationship Type="http://schemas.openxmlformats.org/officeDocument/2006/relationships/notesSlide" Target="/ppt/notesSlides/notesSlide13.xml" Id="R9658fe87d29340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a94e7c2d44bfc" /><Relationship Type="http://schemas.openxmlformats.org/officeDocument/2006/relationships/image" Target="/ppt/media/image8.jpeg" Id="R219f3f486faf4d51" /><Relationship Type="http://schemas.openxmlformats.org/officeDocument/2006/relationships/notesSlide" Target="/ppt/notesSlides/notesSlide14.xml" Id="R62bd05e3641041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2c22d5e6740a8" /><Relationship Type="http://schemas.openxmlformats.org/officeDocument/2006/relationships/image" Target="/ppt/media/image9.jpeg" Id="R0a52e6b9f066419c" /><Relationship Type="http://schemas.openxmlformats.org/officeDocument/2006/relationships/notesSlide" Target="/ppt/notesSlides/notesSlide15.xml" Id="Ra500bf80fa1743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74fc49f3945c3" /><Relationship Type="http://schemas.openxmlformats.org/officeDocument/2006/relationships/image" Target="/ppt/media/image5.png" Id="R09bc2765b8ca4b75" /><Relationship Type="http://schemas.openxmlformats.org/officeDocument/2006/relationships/notesSlide" Target="/ppt/notesSlides/notesSlide16.xml" Id="Rd96472d6a4944e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9b0054ce347e5" /><Relationship Type="http://schemas.openxmlformats.org/officeDocument/2006/relationships/image" Target="/ppt/media/image10.jpeg" Id="R4811040577ec4436" /><Relationship Type="http://schemas.openxmlformats.org/officeDocument/2006/relationships/notesSlide" Target="/ppt/notesSlides/notesSlide17.xml" Id="Recc2c84008324e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B019E-68D2-4FF0-9755-682B001E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FFD42A"/>
                </a:solidFill>
                <a:latin typeface="Segoe UI"/>
                <a:ea typeface="Segoe UI"/>
                <a:cs typeface="Segoe UI"/>
              </a:defRPr>
            </a:pPr>
            <a:r>
              <a:rPr sz="7800" b="1">
                <a:solidFill>
                  <a:srgbClr val="FFD42A"/>
                </a:solidFill>
                <a:latin typeface="Segoe UI"/>
                <a:ea typeface="Segoe UI"/>
                <a:cs typeface="Segoe UI"/>
              </a:rPr>
              <a:t>BeeGo!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B02A5-788D-4B72-BD17-432C3F37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Планирование выездных бригад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AFC08-FB45-4F8F-AC14-77BB6EE8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911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Контрольная смена 17.08.2026</a:t>
            </a:r>
          </a:p>
        </p:txBody>
      </p:sp>
    </p:spTree>
    <p:extLst>
      <p:ext uri="{BB962C8B-B14F-4D97-AF65-F5344CB8AC3E}">
        <p14:creationId xmlns:p14="http://schemas.microsoft.com/office/powerpoint/2010/main" val="1555905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B785E-4EE4-454A-AECB-C9556F02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Рабочее пространство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6124B-21C5-41DF-A1D8-8B448A33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Карта связывает заявки, бригады и маршруты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c6c38649949ab"/>
          <a:stretch xmlns:a="http://schemas.openxmlformats.org/drawingml/2006/main"/>
        </p:blipFill>
        <p:spPr>
          <a:xfrm xmlns:a="http://schemas.openxmlformats.org/drawingml/2006/main">
            <a:off x="1947333" y="1762125"/>
            <a:ext cx="8297333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64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2B744-DD84-47A8-A421-B0E7EDD4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Заявки и адреса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135E6-D53E-4843-9D3E-9C60B7C4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Импорт с проверкой полей до расчёта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5DBE9-AC82-4DFD-ADD9-C1AE645A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Ручная заявка: поиск адреса или точка на карте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ECA30-E0B8-42C6-A8F5-F1C93782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Ошибки видны до загрузки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787f252934c7b"/>
          <a:stretch xmlns:a="http://schemas.openxmlformats.org/drawingml/2006/main"/>
        </p:blipFill>
        <p:spPr>
          <a:xfrm xmlns:a="http://schemas.openxmlformats.org/drawingml/2006/main">
            <a:off x="4762500" y="1932682"/>
            <a:ext cx="6810375" cy="38308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81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26713-D231-4DD6-9F50-30D3287F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Инженеры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3EB6D-E9E3-41FE-8144-B5668D38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Навык, зона, транспорт и оснащение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9027D-BA0A-476B-8C50-4A82511D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Состав смены и доступный резерв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73094-EFFB-41B7-93EE-85F30792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Причина исключения бригады видна оператору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e94e065434f9b"/>
          <a:stretch xmlns:a="http://schemas.openxmlformats.org/drawingml/2006/main"/>
        </p:blipFill>
        <p:spPr>
          <a:xfrm xmlns:a="http://schemas.openxmlformats.org/drawingml/2006/main">
            <a:off x="4762500" y="1932682"/>
            <a:ext cx="6810375" cy="38308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0044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2E945-82F6-47FA-AA7A-D08AE218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Ход смены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D1EDE-33F4-47C9-BBDD-CC3BA769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Маршруты и временная шкала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B1F29-A228-44F4-8275-A5837E85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Фактические отметки визитов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7D4CA-55AA-4B62-8DFB-F54F8497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Журнал событий и версий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b80bfcf414ce1"/>
          <a:stretch xmlns:a="http://schemas.openxmlformats.org/drawingml/2006/main"/>
        </p:blipFill>
        <p:spPr>
          <a:xfrm xmlns:a="http://schemas.openxmlformats.org/drawingml/2006/main">
            <a:off x="4762500" y="1932682"/>
            <a:ext cx="6810375" cy="38308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94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44311-5B09-4A2C-B241-9CEECB5E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Перепланирование в интерфейсе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B152F-3A12-4494-A910-A29FFFA6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Событие создаёт черновик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C95A5-E162-4F8B-ABBB-FEB211C5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Меняется будущая часть дня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14032-9381-44D3-AD80-B04C12CA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Диспетчер проверяет и публикует новую версию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ecd930c704769"/>
          <a:stretch xmlns:a="http://schemas.openxmlformats.org/drawingml/2006/main"/>
        </p:blipFill>
        <p:spPr>
          <a:xfrm xmlns:a="http://schemas.openxmlformats.org/drawingml/2006/main">
            <a:off x="4762500" y="1932682"/>
            <a:ext cx="6810375" cy="38308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967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4FD13-60F6-4A79-9003-7B2E503A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Алгоритм первичного расчёта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EB702-0BE0-408A-9624-C4DBBEDC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Сначала исключаем недопустимые назначения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927ED-80D6-476B-A74D-2D43A8EE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CP-SAT выбирает бригаду и порядок визитов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C2D1D-2662-4EC1-BADD-62D66603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Точные поездки и независимая проверка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ecc30d93f477c"/>
          <a:stretch xmlns:a="http://schemas.openxmlformats.org/drawingml/2006/main"/>
        </p:blipFill>
        <p:spPr>
          <a:xfrm xmlns:a="http://schemas.openxmlformats.org/drawingml/2006/main">
            <a:off x="6814142" y="1190625"/>
            <a:ext cx="3992966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79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0B09E-5174-4048-9B85-D5C49893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Обновление плана после события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1DF75-8E3D-4EA9-B6D0-96CB30B4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Начатые визиты сохраняются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D3220-D39D-4004-853D-98E635F1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Новая заявка: вставка, затем перестройка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C98C8-DE08-456A-8915-F58A26FA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Черновик проходит тот же валидатор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cf94a33654af6"/>
          <a:stretch xmlns:a="http://schemas.openxmlformats.org/drawingml/2006/main"/>
        </p:blipFill>
        <p:spPr>
          <a:xfrm xmlns:a="http://schemas.openxmlformats.org/drawingml/2006/main">
            <a:off x="6814142" y="1190625"/>
            <a:ext cx="3992966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38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a93b523084c11"/>
          <a:stretch xmlns:a="http://schemas.openxmlformats.org/drawingml/2006/main"/>
        </p:blipFill>
        <p:spPr>
          <a:xfrm xmlns:a="http://schemas.openxmlformats.org/drawingml/2006/main">
            <a:off x="552450" y="405765"/>
            <a:ext cx="11087100" cy="59131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7134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4c7a5c4ad4abc"/>
          <a:stretch xmlns:a="http://schemas.openxmlformats.org/drawingml/2006/main"/>
        </p:blipFill>
        <p:spPr>
          <a:xfrm xmlns:a="http://schemas.openxmlformats.org/drawingml/2006/main">
            <a:off x="1724967" y="114300"/>
            <a:ext cx="8742066" cy="6629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4966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2C0DA-BC28-4576-8EB9-DA88C6CA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Контрольная смена 17.08.2026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6029D-5D9D-4CFC-8ABD-A2A98C1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675" b="1">
                <a:solidFill>
                  <a:srgbClr val="FFD42A"/>
                </a:solidFill>
                <a:latin typeface="Segoe UI"/>
                <a:ea typeface="Segoe UI"/>
                <a:cs typeface="Segoe UI"/>
              </a:defRPr>
            </a:pPr>
            <a:r>
              <a:rPr sz="6675" b="1">
                <a:solidFill>
                  <a:srgbClr val="FFD42A"/>
                </a:solidFill>
                <a:latin typeface="Segoe UI"/>
                <a:ea typeface="Segoe UI"/>
                <a:cs typeface="Segoe UI"/>
              </a:rPr>
              <a:t>205 / 205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A5963-A741-45E1-ACD6-D0ABD379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заявок назначено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A19C9-7EC2-4979-9358-C1D863C5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145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6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66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21 / 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8F25F-50A2-427A-BD5D-CD483647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7177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аварийных заявок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2CE4F-E8AF-41B6-B5FB-2C928A50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6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66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32 / 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BFD13-5FDC-4787-8982-E07A8892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бригад задействовано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2F421-4DD3-4A26-A324-1492134D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433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D42A"/>
                </a:solidFill>
                <a:latin typeface="Segoe UI"/>
                <a:ea typeface="Segoe UI"/>
                <a:cs typeface="Segoe UI"/>
              </a:defRPr>
            </a:pPr>
            <a:r>
              <a:rPr sz="5850" b="1">
                <a:solidFill>
                  <a:srgbClr val="FFD42A"/>
                </a:solidFill>
                <a:latin typeface="Segoe UI"/>
                <a:ea typeface="Segoe UI"/>
                <a:cs typeface="Segoe UI"/>
              </a:rPr>
              <a:t>1 255,2 км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7628BB-ADB7-45A1-BA63-94053FAB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0062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суммарный маршрут · очередь 0</a:t>
            </a:r>
          </a:p>
        </p:txBody>
      </p:sp>
    </p:spTree>
    <p:extLst>
      <p:ext uri="{BB962C8B-B14F-4D97-AF65-F5344CB8AC3E}">
        <p14:creationId xmlns:p14="http://schemas.microsoft.com/office/powerpoint/2010/main" val="15986929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F7A2F-0B75-449D-A10D-52AD9252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Аналитика: смена и история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4C655-5959-4CA5-8DCD-ABBED3A5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Смена: покрытие, очередь, ресурсы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6FB18-688D-4DF5-81F1-712B4979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История: 182 расчётных дня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551CC-D8B1-458B-8746-BDE51384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Система объясняет повторяющиеся дефициты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34a887e914f03"/>
          <a:stretch xmlns:a="http://schemas.openxmlformats.org/drawingml/2006/main"/>
        </p:blipFill>
        <p:spPr>
          <a:xfrm xmlns:a="http://schemas.openxmlformats.org/drawingml/2006/main">
            <a:off x="4762500" y="1932682"/>
            <a:ext cx="6810375" cy="38308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8858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2D71E-825D-4375-B410-D5698405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Аналитика: прогноз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1BE82-748C-4E69-ADF5-BA81FC07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На 18 августа: 197 заявок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EA9E8-94C9-4807-8443-FA11F130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Диапазон 182–212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2B077-603F-4DDC-AF90-0D2EE228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Спрос по зонам, времени и навыкам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6e9fe0f7748cf"/>
          <a:stretch xmlns:a="http://schemas.openxmlformats.org/drawingml/2006/main"/>
        </p:blipFill>
        <p:spPr>
          <a:xfrm xmlns:a="http://schemas.openxmlformats.org/drawingml/2006/main">
            <a:off x="4762500" y="1932682"/>
            <a:ext cx="6810375" cy="38308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092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5261D-7B40-465A-8062-1C69B3A7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Аналитика: ресурсы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731C7-FE71-4864-8997-1A48612D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Загрузка и резерв по бригадам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ACF8A-B0F9-43F4-9BE1-CC017A7E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Работы и свободные интервалы на шкале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E8E93-585B-48F3-9B68-1786EF10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Причины простоя и подсказки диспетчеру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f3f486faf4d51"/>
          <a:stretch xmlns:a="http://schemas.openxmlformats.org/drawingml/2006/main"/>
        </p:blipFill>
        <p:spPr>
          <a:xfrm xmlns:a="http://schemas.openxmlformats.org/drawingml/2006/main">
            <a:off x="4762500" y="1932682"/>
            <a:ext cx="6810375" cy="38308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6418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0741D-432F-4A08-9C72-DC3145BE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Аналитика: эффективность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4505B-75CF-4BC6-9830-F73E3181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Стоимость по заданным тарифам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3A649-B444-4913-AE6A-DFDE1A0B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ФОТ и транспорт по видам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8BAC6-52B3-43F0-92E8-F9BD22F1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Объяснения длинных маршрутов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2e6b9f066419c"/>
          <a:stretch xmlns:a="http://schemas.openxmlformats.org/drawingml/2006/main"/>
        </p:blipFill>
        <p:spPr>
          <a:xfrm xmlns:a="http://schemas.openxmlformats.org/drawingml/2006/main">
            <a:off x="4762500" y="1932682"/>
            <a:ext cx="6810375" cy="38308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5093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E7895-990C-4DB2-AD9A-B7B6C560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Отчёт PDF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4561F-8EFD-4694-85FC-EBC88FAF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Из сохранённой версии смены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375EC-5175-4D51-8EE5-8C94EB31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Итог, маршруты, события и факты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9F684-F7D6-43F9-9EC1-F630951F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Каждый выпуск остаётся в архиве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c2765b8ca4b75"/>
          <a:stretch xmlns:a="http://schemas.openxmlformats.org/drawingml/2006/main"/>
        </p:blipFill>
        <p:spPr>
          <a:xfrm xmlns:a="http://schemas.openxmlformats.org/drawingml/2006/main">
            <a:off x="7239000" y="1260935"/>
            <a:ext cx="3714750" cy="52505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974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8F695-602F-4F87-97FB-9C533BA3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Помощник и дополнительные функции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D4330-052A-4B43-BE9E-236D22C9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A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7FAFF"/>
                </a:solidFill>
                <a:latin typeface="Segoe UI"/>
                <a:ea typeface="Segoe UI"/>
                <a:cs typeface="Segoe UI"/>
              </a:rPr>
              <a:t>AI поясняет данные смены по запросу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8089F-5533-4179-AA5A-F8BB1259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Уведомления и справка помогают в работе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5EFB5-A3F7-4D90-8F6D-85C1E697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CED8E5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ED8E5"/>
                </a:solidFill>
                <a:latin typeface="Segoe UI"/>
                <a:ea typeface="Segoe UI"/>
                <a:cs typeface="Segoe UI"/>
              </a:rPr>
              <a:t>Поиск адресов и настройки карты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1040577ec4436"/>
          <a:stretch xmlns:a="http://schemas.openxmlformats.org/drawingml/2006/main"/>
        </p:blipFill>
        <p:spPr>
          <a:xfrm xmlns:a="http://schemas.openxmlformats.org/drawingml/2006/main">
            <a:off x="4762500" y="1932682"/>
            <a:ext cx="6810375" cy="38308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79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2026-09-29T20:06:02.7570000Z</dcterms:created>
  <dcterms:modified xsi:type="dcterms:W3CDTF">2026-09-29T20:06:02.7570000Z</dcterms:modified>
</coreProperties>
</file>