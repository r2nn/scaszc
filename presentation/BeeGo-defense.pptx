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85c2ebe35c43fd" /><Relationship Type="http://schemas.openxmlformats.org/officeDocument/2006/relationships/extended-properties" Target="/docProps/app.xml" Id="Rc9ca8052b4644c6f" /><Relationship Type="http://schemas.openxmlformats.org/officeDocument/2006/relationships/officeDocument" Target="/ppt/presentation.xml" Id="Ra64d44c5204044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215096f6ed4293"/>
  </p:sldMasterIdLst>
  <p:notesMasterIdLst>
    <p:notesMasterId xmlns:r="http://schemas.openxmlformats.org/officeDocument/2006/relationships" r:id="R1a3f66e3378d4cba"/>
  </p:notesMasterIdLst>
  <p:sldIdLst>
    <p:sldId xmlns:r="http://schemas.openxmlformats.org/officeDocument/2006/relationships" id="256" r:id="R3bb71a9dfd1f406c"/>
    <p:sldId xmlns:r="http://schemas.openxmlformats.org/officeDocument/2006/relationships" id="257" r:id="R84a7c15e6a7b4a33"/>
    <p:sldId xmlns:r="http://schemas.openxmlformats.org/officeDocument/2006/relationships" id="258" r:id="R7f73419ef980416f"/>
    <p:sldId xmlns:r="http://schemas.openxmlformats.org/officeDocument/2006/relationships" id="259" r:id="R69c5377f0a8c4d05"/>
    <p:sldId xmlns:r="http://schemas.openxmlformats.org/officeDocument/2006/relationships" id="260" r:id="R3e2a51d078b640f9"/>
    <p:sldId xmlns:r="http://schemas.openxmlformats.org/officeDocument/2006/relationships" id="261" r:id="R3c46f1de494243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fbd2cd71ef446f" /><Relationship Type="http://schemas.openxmlformats.org/officeDocument/2006/relationships/slideMaster" Target="/ppt/slideMasters/slideMaster1.xml" Id="Ra7215096f6ed4293" /><Relationship Type="http://schemas.openxmlformats.org/officeDocument/2006/relationships/notesMaster" Target="/ppt/notesMasters/notesMaster1.xml" Id="R1a3f66e3378d4cba" /><Relationship Type="http://schemas.openxmlformats.org/officeDocument/2006/relationships/presProps" Target="/ppt/presProps.xml" Id="Rc9571d59e4824449" /><Relationship Type="http://schemas.openxmlformats.org/officeDocument/2006/relationships/tableStyles" Target="/ppt/tableStyles.xml" Id="Rebd46e26f9da4288" /><Relationship Type="http://schemas.openxmlformats.org/officeDocument/2006/relationships/slide" Target="/ppt/slides/slide1.xml" Id="R3bb71a9dfd1f406c" /><Relationship Type="http://schemas.openxmlformats.org/officeDocument/2006/relationships/slide" Target="/ppt/slides/slide2.xml" Id="R84a7c15e6a7b4a33" /><Relationship Type="http://schemas.openxmlformats.org/officeDocument/2006/relationships/slide" Target="/ppt/slides/slide3.xml" Id="R7f73419ef980416f" /><Relationship Type="http://schemas.openxmlformats.org/officeDocument/2006/relationships/slide" Target="/ppt/slides/slide4.xml" Id="R69c5377f0a8c4d05" /><Relationship Type="http://schemas.openxmlformats.org/officeDocument/2006/relationships/slide" Target="/ppt/slides/slide5.xml" Id="R3e2a51d078b640f9" /><Relationship Type="http://schemas.openxmlformats.org/officeDocument/2006/relationships/slide" Target="/ppt/slides/slide6.xml" Id="R3c46f1de494243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48e14e89a14c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65ab67fa1242af" /><Relationship Type="http://schemas.openxmlformats.org/officeDocument/2006/relationships/notesMaster" Target="/ppt/notesMasters/notesMaster1.xml" Id="R910d82d6b2f742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b0203500dd4d68" /><Relationship Type="http://schemas.openxmlformats.org/officeDocument/2006/relationships/notesMaster" Target="/ppt/notesMasters/notesMaster1.xml" Id="Radebef8ebac44e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bc2686fe7b41d5" /><Relationship Type="http://schemas.openxmlformats.org/officeDocument/2006/relationships/notesMaster" Target="/ppt/notesMasters/notesMaster1.xml" Id="Rfb785455b1fb4d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58c6cf651d45f7" /><Relationship Type="http://schemas.openxmlformats.org/officeDocument/2006/relationships/notesMaster" Target="/ppt/notesMasters/notesMaster1.xml" Id="R9a31ebf4d60948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1dc60679a8418a" /><Relationship Type="http://schemas.openxmlformats.org/officeDocument/2006/relationships/notesMaster" Target="/ppt/notesMasters/notesMaster1.xml" Id="R080c899b0e1248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2e8447e077434c" /><Relationship Type="http://schemas.openxmlformats.org/officeDocument/2006/relationships/notesMaster" Target="/ppt/notesMasters/notesMaster1.xml" Id="R6c1dfc23a0b44b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задачи: 3. Билайн Бизнес.pdf. Демо рассчитано на 5–7 минут.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Расшифровка постановщика: три региона планируются независимо; старт каждого инженера — офис региона. Завершение работы допускается после конца окна, но внутри смены.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Новый план публикуется только при EXACT_VALID и validation.status=VALID. Источники: код algorithm/src/beeline_planning и site/scripts/exact-plan-runner.mjs.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Проверка: site/scripts/verify-algorithm-integration.mjs. Исходный и событийный планы используют 32 активных маршрута, статус EXACT_VALID. FCFS: 1130 км. Не заявлять математически доказанный глобальный оптимум.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 живом показе открыть сам сайт и пройти шаги по порядку. Целевое время 5–7 минут, как в ТЗ.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Рекомендация по серверу является оценкой до нагрузочного замера. Подробности: deploy/README_RU.md. Не запускать несколько процессов Node API без распределённой блокировки.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39e12972a345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ffa4d694aa494b" /><Relationship Type="http://schemas.openxmlformats.org/officeDocument/2006/relationships/slideLayout" Target="/ppt/slideLayouts/slideLayout1.xml" Id="R8fd6229f91fd4d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d6229f91fd4d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df7ad2ec546af" /><Relationship Type="http://schemas.openxmlformats.org/officeDocument/2006/relationships/image" Target="/ppt/media/image.png" Id="Rd1cb518953994ce1" /><Relationship Type="http://schemas.openxmlformats.org/officeDocument/2006/relationships/notesSlide" Target="/ppt/notesSlides/notesSlide1.xml" Id="Rece563db938b4e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4782e5bc344c7" /><Relationship Type="http://schemas.openxmlformats.org/officeDocument/2006/relationships/image" Target="/ppt/media/image2.png" Id="R02fda7d1cf654e11" /><Relationship Type="http://schemas.openxmlformats.org/officeDocument/2006/relationships/notesSlide" Target="/ppt/notesSlides/notesSlide2.xml" Id="Re804be86dc5b41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3214357de45f3" /><Relationship Type="http://schemas.openxmlformats.org/officeDocument/2006/relationships/notesSlide" Target="/ppt/notesSlides/notesSlide3.xml" Id="R5f0942e5d34547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ea2f59a4e4d0e" /><Relationship Type="http://schemas.openxmlformats.org/officeDocument/2006/relationships/notesSlide" Target="/ppt/notesSlides/notesSlide4.xml" Id="Re6618440859f4e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782ac96e942fd" /><Relationship Type="http://schemas.openxmlformats.org/officeDocument/2006/relationships/image" Target="/ppt/media/image.jpeg" Id="R151f9edb42c44656" /><Relationship Type="http://schemas.openxmlformats.org/officeDocument/2006/relationships/notesSlide" Target="/ppt/notesSlides/notesSlide5.xml" Id="Rf8d8f6ada31a43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9dc30859645f3" /><Relationship Type="http://schemas.openxmlformats.org/officeDocument/2006/relationships/notesSlide" Target="/ppt/notesSlides/notesSlide6.xml" Id="R2c7bcc788f344c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D20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1BD81-C126-451A-848B-B29E63E4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04875"/>
            <a:ext cx="781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BeeGo!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7856E-6E0A-4C89-9F97-1DEA1EE2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14550"/>
            <a:ext cx="8096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9F8F3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9F8F3"/>
                </a:solidFill>
                <a:latin typeface="Arial"/>
                <a:ea typeface="Arial"/>
                <a:cs typeface="Arial"/>
              </a:rPr>
              <a:t>Планирование маршрутов</a:t>
            </a:r>
          </a:p>
          <a:p xmlns:a="http://schemas.openxmlformats.org/drawingml/2006/main">
            <a:pPr>
              <a:defRPr sz="3375" b="1">
                <a:solidFill>
                  <a:srgbClr val="F9F8F3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9F8F3"/>
                </a:solidFill>
                <a:latin typeface="Arial"/>
                <a:ea typeface="Arial"/>
                <a:cs typeface="Arial"/>
              </a:rPr>
              <a:t>выездных инженеров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803DE-DFE2-4729-885C-FB1652CF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8D8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8D5"/>
                </a:solidFill>
                <a:latin typeface="Arial"/>
                <a:ea typeface="Arial"/>
                <a:cs typeface="Arial"/>
              </a:rPr>
              <a:t>Кейс «Билайн Бизнес» · демонстрация рабочего прототипа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cb518953994ce1"/>
          <a:stretch xmlns:a="http://schemas.openxmlformats.org/drawingml/2006/main"/>
        </p:blipFill>
        <p:spPr>
          <a:xfrm xmlns:a="http://schemas.openxmlformats.org/drawingml/2006/main">
            <a:off x="8763000" y="1714500"/>
            <a:ext cx="2381250" cy="2381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200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D20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7F403-43E6-4F41-AA8C-3F2427BE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9F8F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9F8F3"/>
                </a:solidFill>
                <a:latin typeface="Arial"/>
                <a:ea typeface="Arial"/>
                <a:cs typeface="Arial"/>
              </a:rPr>
              <a:t>Задача диспетчера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3BA02-5E79-4529-9F46-1039003E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D8D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D8D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D22F8-AC44-4D5E-AE29-F826336E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666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9F8F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9F8F3"/>
                </a:solidFill>
                <a:latin typeface="Arial"/>
                <a:ea typeface="Arial"/>
                <a:cs typeface="Arial"/>
              </a:rPr>
              <a:t>205 заявок за один день</a:t>
            </a:r>
          </a:p>
          <a:p xmlns:a="http://schemas.openxmlformats.org/drawingml/2006/main">
            <a:pPr>
              <a:defRPr sz="2325" b="1">
                <a:solidFill>
                  <a:srgbClr val="F9F8F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9F8F3"/>
                </a:solidFill>
                <a:latin typeface="Arial"/>
                <a:ea typeface="Arial"/>
                <a:cs typeface="Arial"/>
              </a:rPr>
              <a:t>3 независимых участка</a:t>
            </a:r>
          </a:p>
          <a:p xmlns:a="http://schemas.openxmlformats.org/drawingml/2006/main">
            <a:pPr>
              <a:defRPr sz="2325" b="1">
                <a:solidFill>
                  <a:srgbClr val="F9F8F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9F8F3"/>
                </a:solidFill>
                <a:latin typeface="Arial"/>
                <a:ea typeface="Arial"/>
                <a:cs typeface="Arial"/>
              </a:rPr>
              <a:t>бригада = один инженер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91E9B-E00D-4AD6-B1B6-99202CAF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8096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8D8D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8D8D5"/>
                </a:solidFill>
                <a:latin typeface="Arial"/>
                <a:ea typeface="Arial"/>
                <a:cs typeface="Arial"/>
              </a:rPr>
              <a:t>Нужно соблюсти навыки, тип транспорта, смену и клиентское окно начала работы. Аварийная заявка требует пересчёта плана.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da7d1cf654e11"/>
          <a:stretch xmlns:a="http://schemas.openxmlformats.org/drawingml/2006/main"/>
        </p:blipFill>
        <p:spPr>
          <a:xfrm xmlns:a="http://schemas.openxmlformats.org/drawingml/2006/main">
            <a:off x="8858250" y="2286000"/>
            <a:ext cx="2476500" cy="247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7891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D20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23731-3DAC-41E5-A385-E94C6986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9F8F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9F8F3"/>
                </a:solidFill>
                <a:latin typeface="Arial"/>
                <a:ea typeface="Arial"/>
                <a:cs typeface="Arial"/>
              </a:rPr>
              <a:t>Как строится проверенный план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814B0-FCBC-401B-A132-F5C0DCBF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D8D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D8D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A41BE-BEBF-445D-B73A-2BDE7249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Импорт и проверка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D7DF8-1FAF-46DC-A94D-CD385CB4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193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9F8F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9F8F3"/>
                </a:solidFill>
                <a:latin typeface="Arial"/>
                <a:ea typeface="Arial"/>
                <a:cs typeface="Arial"/>
              </a:rPr>
              <a:t>CSV / JSON / XLSX, координаты или подтверждённый адрес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B812B-7316-47F9-B310-6C9E621D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Расчёт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B28F8-0FBF-4B92-BA16-9E97A601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147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9F8F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9F8F3"/>
                </a:solidFill>
                <a:latin typeface="Arial"/>
                <a:ea typeface="Arial"/>
                <a:cs typeface="Arial"/>
              </a:rPr>
              <a:t>Valhalla и транспортный индекс → OR-Tools → точные маршруты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F5490-1E36-4EB5-A93A-D966A86C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9100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Публикация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5DE8F-A68A-4DF2-B83F-19404DE4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482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9F8F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9F8F3"/>
                </a:solidFill>
                <a:latin typeface="Arial"/>
                <a:ea typeface="Arial"/>
                <a:cs typeface="Arial"/>
              </a:rPr>
              <a:t>Независимый валидатор подтверждает окна, смены и ресурсы</a:t>
            </a:r>
          </a:p>
        </p:txBody>
      </p:sp>
    </p:spTree>
    <p:extLst>
      <p:ext uri="{BB962C8B-B14F-4D97-AF65-F5344CB8AC3E}">
        <p14:creationId xmlns:p14="http://schemas.microsoft.com/office/powerpoint/2010/main" val="9006891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D20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9FF32-4C22-4D7A-B6B4-BA043D10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9F8F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9F8F3"/>
                </a:solidFill>
                <a:latin typeface="Arial"/>
                <a:ea typeface="Arial"/>
                <a:cs typeface="Arial"/>
              </a:rPr>
              <a:t>Проверенный 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166B9-8053-45AF-B601-6F958EDB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D8D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D8D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F24CD-FD1C-4C91-8488-AC8DA57C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205 / 205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E5A92-102F-460D-A3CE-07A9489C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9F8F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9F8F3"/>
                </a:solidFill>
                <a:latin typeface="Arial"/>
                <a:ea typeface="Arial"/>
                <a:cs typeface="Arial"/>
              </a:rPr>
              <a:t>заявок в исходном плане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5C7DA-1C99-492B-BB59-587AA8FD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6212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206 / 206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EA8BE-F90D-4095-8B83-36740DCC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575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9F8F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9F8F3"/>
                </a:solidFill>
                <a:latin typeface="Arial"/>
                <a:ea typeface="Arial"/>
                <a:cs typeface="Arial"/>
              </a:rPr>
              <a:t>после аварийного события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FB0BC-476C-431C-B2B2-B98DC0CF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29125"/>
            <a:ext cx="10334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8D8D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8D8D5"/>
                </a:solidFill>
                <a:latin typeface="Arial"/>
                <a:ea typeface="Arial"/>
                <a:cs typeface="Arial"/>
              </a:rPr>
              <a:t>FCFS: 101 / 205 заявок, 35 активных маршрутов. Сравниваем и покрытие, и пробег: базовый план выполнил меньше работ.</a:t>
            </a:r>
          </a:p>
        </p:txBody>
      </p:sp>
    </p:spTree>
    <p:extLst>
      <p:ext uri="{BB962C8B-B14F-4D97-AF65-F5344CB8AC3E}">
        <p14:creationId xmlns:p14="http://schemas.microsoft.com/office/powerpoint/2010/main" val="5360937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D20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FC708-FE80-4414-B8B1-B2C43B73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9F8F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9F8F3"/>
                </a:solidFill>
                <a:latin typeface="Arial"/>
                <a:ea typeface="Arial"/>
                <a:cs typeface="Arial"/>
              </a:rPr>
              <a:t>Сценарий показа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16E58-BFD1-4059-94EB-74F21A3D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D8D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D8D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69C3A-7D78-4C68-A16C-0D98CBBB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7143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9F8F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9F8F3"/>
                </a:solidFill>
                <a:latin typeface="Arial"/>
                <a:ea typeface="Arial"/>
                <a:cs typeface="Arial"/>
              </a:rPr>
              <a:t>1. Открыть день и карту</a:t>
            </a:r>
          </a:p>
          <a:p xmlns:a="http://schemas.openxmlformats.org/drawingml/2006/main">
            <a:pPr>
              <a:defRPr sz="2025" b="0">
                <a:solidFill>
                  <a:srgbClr val="F9F8F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9F8F3"/>
                </a:solidFill>
                <a:latin typeface="Arial"/>
                <a:ea typeface="Arial"/>
                <a:cs typeface="Arial"/>
              </a:rPr>
              <a:t>2. Построить и проверить план</a:t>
            </a:r>
          </a:p>
          <a:p xmlns:a="http://schemas.openxmlformats.org/drawingml/2006/main">
            <a:pPr>
              <a:defRPr sz="2025" b="0">
                <a:solidFill>
                  <a:srgbClr val="F9F8F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9F8F3"/>
                </a:solidFill>
                <a:latin typeface="Arial"/>
                <a:ea typeface="Arial"/>
                <a:cs typeface="Arial"/>
              </a:rPr>
              <a:t>3. Открыть маршрут и объяснение</a:t>
            </a:r>
          </a:p>
          <a:p xmlns:a="http://schemas.openxmlformats.org/drawingml/2006/main">
            <a:pPr>
              <a:defRPr sz="2025" b="0">
                <a:solidFill>
                  <a:srgbClr val="F9F8F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9F8F3"/>
                </a:solidFill>
                <a:latin typeface="Arial"/>
                <a:ea typeface="Arial"/>
                <a:cs typeface="Arial"/>
              </a:rPr>
              <a:t>4. Добавить аварию, сравнить изменения</a:t>
            </a:r>
          </a:p>
          <a:p xmlns:a="http://schemas.openxmlformats.org/drawingml/2006/main">
            <a:pPr>
              <a:defRPr sz="2025" b="0">
                <a:solidFill>
                  <a:srgbClr val="F9F8F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9F8F3"/>
                </a:solidFill>
                <a:latin typeface="Arial"/>
                <a:ea typeface="Arial"/>
                <a:cs typeface="Arial"/>
              </a:rPr>
              <a:t>5. Показать FCFS и метрики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1f9edb42c44656"/>
          <a:srcRect xmlns:a="http://schemas.openxmlformats.org/drawingml/2006/main" l="25208" t="0" r="252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8625" y="2238375"/>
            <a:ext cx="3333750" cy="2381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8137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D20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D5A1A-9937-42C4-83D1-1E386EE2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9F8F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9F8F3"/>
                </a:solidFill>
                <a:latin typeface="Arial"/>
                <a:ea typeface="Arial"/>
                <a:cs typeface="Arial"/>
              </a:rPr>
              <a:t>Готовность стенда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CB40C-C4E2-426D-89FD-6BAF7D96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D8D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D8D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05C3E-857D-4D2D-8473-2F5F1A7E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Один точный расчёт одновременно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3F04A-6D84-46AC-9DBF-03C4E202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1009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9F8F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9F8F3"/>
                </a:solidFill>
                <a:latin typeface="Arial"/>
                <a:ea typeface="Arial"/>
                <a:cs typeface="Arial"/>
              </a:rPr>
              <a:t>Остальные посетители продолжают смотреть сайт. При попытке расчёта получают сообщение ожидания и HTTP 429.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245EF-A332-4E86-8D82-C16564BD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1009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8D8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8D5"/>
                </a:solidFill>
                <a:latin typeface="Arial"/>
                <a:ea typeface="Arial"/>
                <a:cs typeface="Arial"/>
              </a:rPr>
              <a:t>Стартовая конфигурация: 8 vCPU, 32 ГБ RAM, 160 ГБ NVMe. Публичный стенд требует отдельной проверки Valhalla, внешних данных и фактической нагрузки.</a:t>
            </a:r>
          </a:p>
        </p:txBody>
      </p:sp>
    </p:spTree>
    <p:extLst>
      <p:ext uri="{BB962C8B-B14F-4D97-AF65-F5344CB8AC3E}">
        <p14:creationId xmlns:p14="http://schemas.microsoft.com/office/powerpoint/2010/main" val="64767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2026-09-29T14:58:37.0750000Z</dcterms:created>
  <dcterms:modified xsi:type="dcterms:W3CDTF">2026-09-29T14:58:37.0750000Z</dcterms:modified>
</coreProperties>
</file>